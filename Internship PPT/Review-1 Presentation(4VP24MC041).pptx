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notesMasterIdLst>
    <p:notesMasterId r:id="rId26"/>
  </p:notesMasterIdLst>
  <p:handoutMasterIdLst>
    <p:handoutMasterId r:id="rId27"/>
  </p:handoutMasterIdLst>
  <p:sldIdLst>
    <p:sldId id="256" r:id="rId6"/>
    <p:sldId id="271" r:id="rId7"/>
    <p:sldId id="266" r:id="rId8"/>
    <p:sldId id="273" r:id="rId9"/>
    <p:sldId id="278" r:id="rId10"/>
    <p:sldId id="279" r:id="rId11"/>
    <p:sldId id="258" r:id="rId12"/>
    <p:sldId id="267" r:id="rId13"/>
    <p:sldId id="268" r:id="rId14"/>
    <p:sldId id="270" r:id="rId15"/>
    <p:sldId id="269" r:id="rId16"/>
    <p:sldId id="275" r:id="rId17"/>
    <p:sldId id="276" r:id="rId18"/>
    <p:sldId id="277" r:id="rId19"/>
    <p:sldId id="280" r:id="rId20"/>
    <p:sldId id="281" r:id="rId21"/>
    <p:sldId id="282" r:id="rId22"/>
    <p:sldId id="283" r:id="rId23"/>
    <p:sldId id="263" r:id="rId24"/>
    <p:sldId id="26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41FF3-5EE8-802B-4171-BB07F2605F77}" v="2" dt="2023-05-01T16:12:31.006"/>
    <p1510:client id="{F83CA308-13A4-4A1B-E8BC-17F71DCD6A14}" v="176" dt="2023-05-01T16:08:58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0B4157-64B4-4347-AE25-A0AC343D678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Dept of MCA, VCET Puttur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86218-92DD-45E7-B3E8-B9E42EA91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3924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 idx="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Dept of MCA, VCET Puttur</a:t>
            </a:r>
            <a:endParaRPr lang="en-IN" sz="14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D3E060D5-D088-46B6-B870-3D203A0E9FCD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529352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6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2DFFC5-4368-42B3-ACF4-064872DDFCA0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Dept of MCA, VCET Puttur</a:t>
            </a:r>
            <a:endParaRPr lang="en-IN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buNone/>
            </a:pPr>
            <a:fld id="{D3E060D5-D088-46B6-B870-3D203A0E9FCD}" type="slidenum">
              <a:rPr lang="en-IN" sz="1400" b="0" strike="noStrike" spc="-1" smtClean="0">
                <a:latin typeface="Times New Roman"/>
              </a:rPr>
              <a:t>2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Dept of MCA, VCET Puttur</a:t>
            </a:r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438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buNone/>
            </a:pPr>
            <a:fld id="{D3E060D5-D088-46B6-B870-3D203A0E9FCD}" type="slidenum">
              <a:rPr lang="en-IN" sz="1400" b="0" strike="noStrike" spc="-1" smtClean="0">
                <a:latin typeface="Times New Roman"/>
              </a:rPr>
              <a:t>3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Dept of MCA, VCET Puttur</a:t>
            </a:r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0401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buNone/>
            </a:pPr>
            <a:fld id="{D3E060D5-D088-46B6-B870-3D203A0E9FCD}" type="slidenum">
              <a:rPr lang="en-IN" sz="1400" b="0" strike="noStrike" spc="-1" smtClean="0">
                <a:latin typeface="Times New Roman"/>
              </a:rPr>
              <a:t>4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Dept of MCA, VCET Puttur</a:t>
            </a:r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438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14ED-20E5-FF6D-B843-215CCC8E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9441F-7AB6-1B54-E182-649AB567C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EDC1A-6FEB-053D-30B0-103448B70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C9BA8-4D87-84EB-016E-F680A6FE882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buNone/>
            </a:pPr>
            <a:fld id="{D3E060D5-D088-46B6-B870-3D203A0E9FCD}" type="slidenum">
              <a:rPr lang="en-IN" sz="1400" b="0" strike="noStrike" spc="-1" smtClean="0">
                <a:latin typeface="Times New Roman"/>
              </a:rPr>
              <a:t>5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9D703-0AD0-5A9A-DEB3-900B79B279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Dept of MCA, VCET Puttur</a:t>
            </a:r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2693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365D5-06A2-F919-B801-7F854D891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B47DA-458F-0439-5A7A-4DF782CBD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61B94-2702-BF9A-2DF0-43D6D55EA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943D8-823E-FA07-287D-595A26527C0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buNone/>
            </a:pPr>
            <a:fld id="{D3E060D5-D088-46B6-B870-3D203A0E9FCD}" type="slidenum">
              <a:rPr lang="en-IN" sz="1400" b="0" strike="noStrike" spc="-1" smtClean="0">
                <a:latin typeface="Times New Roman"/>
              </a:rPr>
              <a:t>6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50C13-A3B4-557D-34E9-EFCD233B4A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z="1400" b="0" strike="noStrike" spc="-1">
                <a:latin typeface="Times New Roman"/>
              </a:rPr>
              <a:t>Dept of MCA, VCET Puttur</a:t>
            </a:r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5077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305C2ED-07D6-47CE-A042-F19CB4F3D43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064E386-EFDD-4DA0-95B6-CD320D41C8D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5219FEC3-2CD1-4A43-B22B-4AA4F35B37C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7734F62-50B0-4DFF-B9A6-15E8FBFBDC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D3ABBD35-D23D-4CF5-A0D8-019F26A1C65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38680" y="185400"/>
            <a:ext cx="8719560" cy="443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B140B27-1975-4179-8BC0-8930A487D9E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238680" y="373860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19A65F4-7C98-4DBD-AD1E-CA540CA0D2C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706640" y="373860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23E8706-D7A0-4BC2-872D-F407A8A30B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238680" y="3738600"/>
            <a:ext cx="871956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656DA3-311B-48F4-BFB8-B8076B2BCFD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871956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238680" y="3738600"/>
            <a:ext cx="871956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96138D3-3942-4AA0-8C28-96EB97EF3D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238680" y="373860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706640" y="373860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A751BC5-D854-466C-B077-6F8B34CC7F0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186720" y="126216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134760" y="126216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238680" y="373860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186720" y="373860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134760" y="373860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0BFF196-D369-453F-A80B-8A16B5E0C8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7079C45-AA8B-4BC2-BFAE-7D27532C29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C81CE2F-BE4E-4AC2-A647-0449FF65CCC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152325F-1597-437E-9935-C94423CA07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5EC9679-FF61-4250-9314-422C2D472EA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38F18A7-2ECB-4E82-A9BA-B5981713593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238680" y="185400"/>
            <a:ext cx="8719560" cy="443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73FF80D-1D2F-4CB1-855A-6B7CF11D32E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238680" y="373860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0C38BE3-A24F-4720-A176-0453EA17B9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47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706640" y="373860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625F6AF-FEA6-4769-BDA2-8636FFFE7F4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238680" y="3738600"/>
            <a:ext cx="871956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3CFBFA0-B6D3-4C28-BE6A-B7D979810D4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871956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238680" y="3738600"/>
            <a:ext cx="871956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6D93309-141D-46A0-A43C-764247485F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706640" y="126216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238680" y="373860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706640" y="3738600"/>
            <a:ext cx="425484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9993FDB-A432-4BA0-9893-686D557B339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186720" y="126216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134760" y="126216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238680" y="373860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3186720" y="373860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6134760" y="3738600"/>
            <a:ext cx="2807280" cy="226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14AE350-2F30-48FB-8CD0-46107B94B9E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FF0000"/>
                </a:solidFill>
                <a:latin typeface="Times New Roman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1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64D109-1B33-477F-A782-09A66A90BBFD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10760" y="144000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Seventh Outline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0000" y="0"/>
            <a:ext cx="9540000" cy="720000"/>
          </a:xfrm>
          <a:prstGeom prst="rect">
            <a:avLst/>
          </a:prstGeom>
          <a:solidFill>
            <a:srgbClr val="103D6D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4" name="Rectangle 1"/>
          <p:cNvSpPr txBox="1"/>
          <p:nvPr/>
        </p:nvSpPr>
        <p:spPr>
          <a:xfrm>
            <a:off x="720000" y="180360"/>
            <a:ext cx="7737840" cy="383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1080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Times New Roman"/>
              </a:rPr>
              <a:t>DEPARTMENT OF MCA</a:t>
            </a:r>
            <a:endParaRPr lang="en-IN" sz="2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FF0000"/>
                </a:solidFill>
                <a:latin typeface="Times New Roman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</a:rPr>
              <a:t>Click to edit Master text styles</a:t>
            </a:r>
          </a:p>
          <a:p>
            <a:pPr marL="864000" lvl="1" indent="-324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Second level</a:t>
            </a:r>
          </a:p>
          <a:p>
            <a:pPr marL="1296000" lvl="2" indent="-288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</a:rPr>
              <a:t>Third level</a:t>
            </a:r>
          </a:p>
          <a:p>
            <a:pPr marL="1728000" lvl="3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Fourth level</a:t>
            </a:r>
          </a:p>
          <a:p>
            <a:pPr marL="2160000" lvl="4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sldNum" idx="2"/>
          </p:nvPr>
        </p:nvSpPr>
        <p:spPr>
          <a:xfrm>
            <a:off x="6553080" y="639252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0DC96D-18ED-4D55-BC2F-304C74A1DE84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44" name="Straight Connector 6"/>
          <p:cNvSpPr/>
          <p:nvPr/>
        </p:nvSpPr>
        <p:spPr>
          <a:xfrm flipV="1">
            <a:off x="238320" y="6275880"/>
            <a:ext cx="8719920" cy="3960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45" name="Picture 44"/>
          <p:cNvPicPr/>
          <p:nvPr/>
        </p:nvPicPr>
        <p:blipFill>
          <a:blip r:embed="rId14">
            <a:alphaModFix amt="20000"/>
          </a:blip>
          <a:stretch/>
        </p:blipFill>
        <p:spPr>
          <a:xfrm>
            <a:off x="1620000" y="720000"/>
            <a:ext cx="5400000" cy="5400000"/>
          </a:xfrm>
          <a:prstGeom prst="rect">
            <a:avLst/>
          </a:prstGeom>
          <a:ln w="0">
            <a:noFill/>
          </a:ln>
        </p:spPr>
      </p:pic>
      <p:sp>
        <p:nvSpPr>
          <p:cNvPr id="46" name="Rectangle 5"/>
          <p:cNvSpPr txBox="1"/>
          <p:nvPr/>
        </p:nvSpPr>
        <p:spPr>
          <a:xfrm>
            <a:off x="259200" y="6392880"/>
            <a:ext cx="56880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81000" y="5410200"/>
            <a:ext cx="4538828" cy="10634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strike="noStrike" spc="-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Presenter Name : Ruchitha K M</a:t>
            </a:r>
            <a:br>
              <a:rPr sz="2400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</a:br>
            <a:r>
              <a:rPr lang="en-US" sz="2400" b="1" strike="noStrike" spc="-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USN : 4VP24MC041</a:t>
            </a:r>
            <a:endParaRPr lang="en-US" sz="2400" b="0" strike="noStrike" spc="-1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722160" y="720000"/>
            <a:ext cx="7737840" cy="1103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1080"/>
              </a:spcBef>
              <a:tabLst>
                <a:tab pos="0" algn="l"/>
              </a:tabLst>
            </a:pPr>
            <a:r>
              <a:rPr lang="en-US" sz="4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DATA SCEINCE AND AI\ML </a:t>
            </a:r>
            <a:endParaRPr lang="en-IN" sz="48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1" name="Picture 90"/>
          <p:cNvPicPr/>
          <p:nvPr/>
        </p:nvPicPr>
        <p:blipFill>
          <a:blip r:embed="rId3"/>
          <a:stretch/>
        </p:blipFill>
        <p:spPr>
          <a:xfrm>
            <a:off x="2146748" y="1447800"/>
            <a:ext cx="4680000" cy="4680000"/>
          </a:xfrm>
          <a:prstGeom prst="rect">
            <a:avLst/>
          </a:prstGeom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8CCAE2-F62D-29DF-466F-5A159C365040}"/>
              </a:ext>
            </a:extLst>
          </p:cNvPr>
          <p:cNvSpPr txBox="1"/>
          <p:nvPr/>
        </p:nvSpPr>
        <p:spPr>
          <a:xfrm>
            <a:off x="3681172" y="6448509"/>
            <a:ext cx="4778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REVIEW-1 Presentation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spc="-1" dirty="0">
                <a:solidFill>
                  <a:srgbClr val="002060"/>
                </a:solidFill>
                <a:latin typeface="Times New Roman"/>
              </a:rPr>
              <a:t>INTRODUCTION</a:t>
            </a:r>
            <a:endParaRPr lang="en-US" sz="4400" b="1" strike="noStrike" spc="-1" dirty="0">
              <a:solidFill>
                <a:srgbClr val="0000FF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r>
              <a:rPr lang="en-US" sz="2400" b="1" strike="noStrike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Company Name: </a:t>
            </a:r>
            <a:r>
              <a:rPr lang="en-US" sz="2400" b="1" spc="-1" dirty="0" err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Comedkares</a:t>
            </a:r>
            <a:r>
              <a:rPr lang="en-US" sz="2400" b="1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ERA Foundation</a:t>
            </a:r>
            <a:endParaRPr lang="en-US" sz="2400" b="1" strike="noStrike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r>
              <a:rPr lang="en-US" sz="2400" b="1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Internship Title: </a:t>
            </a:r>
            <a:r>
              <a:rPr lang="en-US" sz="2400" b="1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Data Science and AI\ML</a:t>
            </a:r>
            <a:endParaRPr lang="en-US" sz="2400" b="1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r>
              <a:rPr lang="en-US" sz="2400" b="1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External Guide: Ms. </a:t>
            </a:r>
            <a:r>
              <a:rPr lang="en-US" sz="2400" b="1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Kavya Rao</a:t>
            </a:r>
            <a:endParaRPr lang="en-US" sz="2400" b="1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r>
              <a:rPr lang="en-US" sz="2400" b="1" strike="noStrike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Internal Guide: Prof. Neema H</a:t>
            </a:r>
          </a:p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r>
              <a:rPr lang="en-US" sz="2400" b="1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Project Title: Loan Default Prediction Using Machine       			Learning</a:t>
            </a:r>
            <a:endParaRPr lang="en-US" sz="2400" b="1" strike="noStrike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endParaRPr lang="en-US" sz="2400" b="1" strike="noStrike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3DB7F55-FE0D-4024-BF14-8FB6E9EF21B1}" type="slidenum">
              <a:rPr/>
              <a:t>2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52400" y="6331226"/>
            <a:ext cx="7543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69867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 idx="4294967295"/>
          </p:nvPr>
        </p:nvSpPr>
        <p:spPr>
          <a:xfrm>
            <a:off x="228600" y="-23191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spc="-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CONTENTS</a:t>
            </a:r>
            <a:endParaRPr lang="en-US" sz="4400" b="1" strike="noStrike" spc="-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3004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 marL="463680" indent="-46368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Company Profile</a:t>
            </a:r>
          </a:p>
          <a:p>
            <a:pPr marL="463680" indent="-46368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Title Introduction</a:t>
            </a:r>
          </a:p>
          <a:p>
            <a:pPr marL="463680" indent="-46368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Objectives </a:t>
            </a:r>
            <a:endParaRPr lang="en-US" sz="2400" b="1" strike="noStrike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  <a:p>
            <a:pPr marL="463680" indent="-46368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Software Requirements Specification</a:t>
            </a:r>
          </a:p>
          <a:p>
            <a:pPr marL="463680" indent="-46368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Flow Diagram</a:t>
            </a:r>
          </a:p>
          <a:p>
            <a:pPr marL="463680" indent="-46368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Project Carried Out</a:t>
            </a:r>
            <a:endParaRPr lang="en-US" sz="2400" b="1" strike="noStrike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  <a:p>
            <a:pPr marL="463680" indent="-46368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</a:pPr>
            <a:r>
              <a:rPr lang="en-US" sz="24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Conclusion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3DB7F55-FE0D-4024-BF14-8FB6E9EF21B1}" type="slidenum">
              <a:rPr/>
              <a:t>3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73914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43912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spc="-1" dirty="0">
                <a:solidFill>
                  <a:srgbClr val="002060"/>
                </a:solidFill>
                <a:latin typeface="Times New Roman"/>
              </a:rPr>
              <a:t>COMPANY PROFILE</a:t>
            </a:r>
            <a:endParaRPr lang="en-US" sz="4400" b="1" strike="noStrike" spc="-1" dirty="0">
              <a:solidFill>
                <a:srgbClr val="0000FF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000" dirty="0"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  <a:sym typeface="+mn-ea"/>
              </a:rPr>
              <a:t>COMEDKARES is an innovation initiative by ERA Foundation in       collaboration with COMEDK.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000" dirty="0"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  <a:sym typeface="+mn-ea"/>
              </a:rPr>
              <a:t>The Mangalore center provides hands-on training and practical learning for engineering students.</a:t>
            </a:r>
            <a:endParaRPr lang="en-US" sz="2000" dirty="0"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000" dirty="0"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  <a:sym typeface="+mn-ea"/>
              </a:rPr>
              <a:t>It focuses on emerging technologies such as Artificial Intelligence, Robotics, and IoT.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000" dirty="0"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  <a:sym typeface="+mn-ea"/>
              </a:rPr>
              <a:t>The center offers advanced lab facilities including 3D printing, robotics kits, and smart device development.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000" dirty="0"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  <a:sym typeface="+mn-ea"/>
              </a:rPr>
              <a:t>It aims to enhance student skills, innovation, and industry readiness through real-time projects.</a:t>
            </a:r>
            <a:endParaRPr lang="en-US" sz="2000" dirty="0"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endParaRPr lang="en-US" sz="2000" dirty="0"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endParaRPr lang="en-US" sz="2000" dirty="0"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endParaRPr lang="en-US" sz="20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endParaRPr lang="en-US" sz="2000" b="1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endParaRPr lang="en-US" sz="2000" b="1" strike="noStrike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3DB7F55-FE0D-4024-BF14-8FB6E9EF21B1}" type="slidenum">
              <a:rPr/>
              <a:t>4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73914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302754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DB8C-2896-045A-04C4-BA665BBBB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>
            <a:extLst>
              <a:ext uri="{FF2B5EF4-FFF2-40B4-BE49-F238E27FC236}">
                <a16:creationId xmlns:a16="http://schemas.microsoft.com/office/drawing/2014/main" id="{3268AFC6-52D2-105C-F638-1BE4FC0566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spc="-1" dirty="0">
                <a:solidFill>
                  <a:srgbClr val="002060"/>
                </a:solidFill>
                <a:latin typeface="Times New Roman"/>
              </a:rPr>
              <a:t> INTRODUCTION</a:t>
            </a:r>
            <a:endParaRPr lang="en-US" sz="4400" b="1" strike="noStrike" spc="-1" dirty="0">
              <a:solidFill>
                <a:srgbClr val="0000FF"/>
              </a:solidFill>
              <a:latin typeface="Arial"/>
            </a:endParaRPr>
          </a:p>
        </p:txBody>
      </p:sp>
      <p:sp>
        <p:nvSpPr>
          <p:cNvPr id="93" name="PlaceHolder 2">
            <a:extLst>
              <a:ext uri="{FF2B5EF4-FFF2-40B4-BE49-F238E27FC236}">
                <a16:creationId xmlns:a16="http://schemas.microsoft.com/office/drawing/2014/main" id="{FA30825F-9A36-B747-3782-2FB6F8709D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 is a crucial task for financial institutions, as it helps identify borrowers who may fail to repay their loans.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credit scoring methods mainly rely on limited borrower financial history, which may not accurately capture the true repayment risk.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advancement of technology, machine learning techniques enable the analysis of large borrower datasets efficiently. These models can predict potential loan defaults at an early stage, improving decision-making for financial institutions.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banks can reduce financial losses, manage risks effectively, and enhance the overall quality of their lending process.</a:t>
            </a:r>
            <a:endParaRPr lang="en-US" sz="20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endParaRPr lang="en-US" sz="2000" b="1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  <a:buNone/>
            </a:pPr>
            <a:endParaRPr lang="en-US" sz="2000" b="1" strike="noStrike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690A9FA-FB5A-B9E8-2837-878B9FE064BB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3DB7F55-FE0D-4024-BF14-8FB6E9EF21B1}" type="slidenum">
              <a:rPr/>
              <a:t>5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8E60F-1117-2E61-3ECE-E5845057FB32}"/>
              </a:ext>
            </a:extLst>
          </p:cNvPr>
          <p:cNvSpPr txBox="1"/>
          <p:nvPr/>
        </p:nvSpPr>
        <p:spPr>
          <a:xfrm>
            <a:off x="152400" y="6331226"/>
            <a:ext cx="77724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59295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1178-881A-B3D8-2C04-E8D064C27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>
            <a:extLst>
              <a:ext uri="{FF2B5EF4-FFF2-40B4-BE49-F238E27FC236}">
                <a16:creationId xmlns:a16="http://schemas.microsoft.com/office/drawing/2014/main" id="{EFA47120-D963-8DE5-3AD6-A28E948CF4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957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spc="-1" dirty="0">
                <a:solidFill>
                  <a:srgbClr val="002060"/>
                </a:solidFill>
                <a:latin typeface="Times New Roman"/>
              </a:rPr>
              <a:t>OBJECTIVES</a:t>
            </a:r>
            <a:endParaRPr lang="en-US" sz="4400" b="1" strike="noStrike" spc="-1" dirty="0">
              <a:solidFill>
                <a:srgbClr val="0000FF"/>
              </a:solidFill>
              <a:latin typeface="Arial"/>
            </a:endParaRPr>
          </a:p>
        </p:txBody>
      </p:sp>
      <p:sp>
        <p:nvSpPr>
          <p:cNvPr id="93" name="PlaceHolder 2">
            <a:extLst>
              <a:ext uri="{FF2B5EF4-FFF2-40B4-BE49-F238E27FC236}">
                <a16:creationId xmlns:a16="http://schemas.microsoft.com/office/drawing/2014/main" id="{64E033F5-5C4A-4C1D-9F4A-AF09C5E3BB7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8680" y="105858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machine learning model to accurately predict loan default risk.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loan approval decisions using multiple borrower financial factors.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user-friendly system for entering data and viewing prediction results.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financial losses by identifying high-risk borrowers early.</a:t>
            </a:r>
          </a:p>
          <a:p>
            <a:pPr>
              <a:lnSpc>
                <a:spcPct val="15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and efficient loan management with proper authentication and data protection.</a:t>
            </a:r>
            <a:endParaRPr lang="en-US" sz="2400" b="1" strike="noStrike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56ADE22-7238-9465-CE92-9DBD07874923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3DB7F55-FE0D-4024-BF14-8FB6E9EF21B1}" type="slidenum">
              <a:rPr/>
              <a:t>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26370-12D3-97E8-456C-9A986438F403}"/>
              </a:ext>
            </a:extLst>
          </p:cNvPr>
          <p:cNvSpPr txBox="1"/>
          <p:nvPr/>
        </p:nvSpPr>
        <p:spPr>
          <a:xfrm>
            <a:off x="152400" y="6331226"/>
            <a:ext cx="73914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15455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idx="4294967295"/>
          </p:nvPr>
        </p:nvSpPr>
        <p:spPr>
          <a:xfrm>
            <a:off x="238680" y="126178"/>
            <a:ext cx="8719560" cy="113598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SOFTWARE REQUIREMENTS SPECIFICATIONS</a:t>
            </a:r>
          </a:p>
        </p:txBody>
      </p:sp>
      <p:sp>
        <p:nvSpPr>
          <p:cNvPr id="95" name="PlaceHolder 2"/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r>
              <a:rPr lang="en-US" b="1" u="sng" strike="noStrike" spc="-1" dirty="0">
                <a:solidFill>
                  <a:srgbClr val="C0000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</a:t>
            </a:r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 an account and log in securely.</a:t>
            </a:r>
            <a:endParaRPr lang="en-US" sz="20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Data Input and Processing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borrower details such as income, loan amount, age, and credit score for analysis.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model predicts whether the borrower is high-risk or low-risk for loan repayment.</a:t>
            </a:r>
            <a:endParaRPr lang="en-US" sz="20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and Decision Support</a:t>
            </a:r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prediction results to support accurate loan approval and risk assessment.</a:t>
            </a:r>
            <a:endParaRPr lang="en-US" sz="20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and Report Generation</a:t>
            </a:r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users and monitor predictions, while the system generates downloadable PDF reports</a:t>
            </a:r>
            <a:endParaRPr lang="en-US" sz="20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strike="noStrike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7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7239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2"/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r>
              <a:rPr lang="en-US" b="1" u="sng" strike="noStrike" spc="-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Non-functional Requirements: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Accuracy : Prediction should be reliable and correct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Performance : Fast prediction (within seconds)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Security : Protect sensitive user data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Usability : Easy to use interface</a:t>
            </a: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8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6858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C0CA5EDB-3663-4D33-AA7C-0A18283F5694}"/>
              </a:ext>
            </a:extLst>
          </p:cNvPr>
          <p:cNvSpPr txBox="1">
            <a:spLocks/>
          </p:cNvSpPr>
          <p:nvPr/>
        </p:nvSpPr>
        <p:spPr>
          <a:xfrm>
            <a:off x="238680" y="126178"/>
            <a:ext cx="8719560" cy="113598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600" b="1" spc="-1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SOFTWARE REQUIREMENTS SPECIFICATIONS</a:t>
            </a:r>
            <a:endParaRPr lang="en-US" sz="3600" b="1" spc="-1" dirty="0">
              <a:solidFill>
                <a:srgbClr val="002060"/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863342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2"/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r>
              <a:rPr lang="en-US" b="1" u="sng" strike="noStrike" spc="-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Hardware Requirements: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 sz="2000" spc="-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 sz="2000" spc="-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 sz="2000" spc="-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Storage: Minimum 500 MB free space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 sz="2000" spc="-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System: Windows / Linux / Mac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9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7162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00CEA4AE-E627-4685-9D8B-B1E8CB88DB9F}"/>
              </a:ext>
            </a:extLst>
          </p:cNvPr>
          <p:cNvSpPr txBox="1">
            <a:spLocks/>
          </p:cNvSpPr>
          <p:nvPr/>
        </p:nvSpPr>
        <p:spPr>
          <a:xfrm>
            <a:off x="238680" y="126178"/>
            <a:ext cx="8719560" cy="113598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600" b="1" spc="-1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SOFTWARE REQUIREMENTS SPECIFICATIONS</a:t>
            </a:r>
            <a:endParaRPr lang="en-US" sz="3600" b="1" spc="-1" dirty="0">
              <a:solidFill>
                <a:srgbClr val="002060"/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746904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6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SYSTEM REQUIREMENTS</a:t>
            </a:r>
          </a:p>
        </p:txBody>
      </p:sp>
      <p:sp>
        <p:nvSpPr>
          <p:cNvPr id="95" name="PlaceHolder 2"/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740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r>
              <a:rPr lang="en-US" b="1" u="sng" strike="noStrike" spc="-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Software Requirements: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spc="-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Frontend: HTML, CSS, JavaScript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spc="-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Backend: Python (Flask Framework)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spc="-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Database: MYSQL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spc="-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Model Algorithm: Random forest classifier, Logistic Regression, 				     </a:t>
            </a:r>
            <a:r>
              <a:rPr lang="en-US" altLang="en-US" sz="2000" spc="-1" dirty="0" err="1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LightGBM</a:t>
            </a:r>
            <a:endParaRPr lang="en-US" altLang="en-US" sz="2000" spc="-1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spc="-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Tools: VS Code, Web Browser</a:t>
            </a: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10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7620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981575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idx="4294967295"/>
          </p:nvPr>
        </p:nvSpPr>
        <p:spPr>
          <a:xfrm>
            <a:off x="238680" y="145774"/>
            <a:ext cx="8719560" cy="65882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FLOW DIAGRAM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11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7620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CDA822-4125-43E0-1981-FF169B321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804600"/>
            <a:ext cx="5715000" cy="5166566"/>
          </a:xfrm>
          <a:prstGeom prst="rect">
            <a:avLst/>
          </a:prstGeom>
        </p:spPr>
      </p:pic>
      <p:sp>
        <p:nvSpPr>
          <p:cNvPr id="9" name="PlaceHolder 1">
            <a:extLst>
              <a:ext uri="{FF2B5EF4-FFF2-40B4-BE49-F238E27FC236}">
                <a16:creationId xmlns:a16="http://schemas.microsoft.com/office/drawing/2014/main" id="{CAD2DC70-A8B7-7957-C454-CE8A80BB046B}"/>
              </a:ext>
            </a:extLst>
          </p:cNvPr>
          <p:cNvSpPr txBox="1">
            <a:spLocks/>
          </p:cNvSpPr>
          <p:nvPr/>
        </p:nvSpPr>
        <p:spPr>
          <a:xfrm>
            <a:off x="364620" y="5971166"/>
            <a:ext cx="8719560" cy="65882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8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Figure 1.1 : System Flow of the Loan Default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3657106199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6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PROJECT CARRIED OUT</a:t>
            </a:r>
          </a:p>
        </p:txBody>
      </p:sp>
      <p:sp>
        <p:nvSpPr>
          <p:cNvPr id="95" name="PlaceHolder 2"/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986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 marL="0" indent="0">
              <a:buNone/>
            </a:pPr>
            <a:endParaRPr lang="en-US" sz="2400" b="1" spc="-1" dirty="0">
              <a:latin typeface="Cambria" pitchFamily="18" charset="0"/>
              <a:ea typeface="Cambria" pitchFamily="18" charset="0"/>
            </a:endParaRPr>
          </a:p>
          <a:p>
            <a:r>
              <a:rPr lang="en-US" sz="2400" b="1" spc="-1" dirty="0">
                <a:latin typeface="Cambria" pitchFamily="18" charset="0"/>
                <a:ea typeface="Cambria" pitchFamily="18" charset="0"/>
              </a:rPr>
              <a:t>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borrower details into the system.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is validated and processed.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predicts loan default risk.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 is calculated and displayed to the user. </a:t>
            </a:r>
          </a:p>
          <a:p>
            <a:endParaRPr lang="en-US" sz="2400" b="1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endParaRPr lang="en-US" sz="2400" b="1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12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73914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103149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6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PROJECT CARRIED OUT</a:t>
            </a:r>
          </a:p>
        </p:txBody>
      </p:sp>
      <p:sp>
        <p:nvSpPr>
          <p:cNvPr id="95" name="PlaceHolder 2"/>
          <p:cNvSpPr>
            <a:spLocks noGrp="1"/>
          </p:cNvSpPr>
          <p:nvPr>
            <p:ph idx="4294967295"/>
          </p:nvPr>
        </p:nvSpPr>
        <p:spPr>
          <a:xfrm>
            <a:off x="238680" y="1262160"/>
            <a:ext cx="8719560" cy="4986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r>
              <a:rPr lang="en-US" sz="2400" b="1" spc="-1" dirty="0">
                <a:latin typeface="Cambria" pitchFamily="18" charset="0"/>
                <a:ea typeface="Cambria" pitchFamily="18" charset="0"/>
              </a:rPr>
              <a:t>Modules Developed</a:t>
            </a:r>
          </a:p>
          <a:p>
            <a:r>
              <a:rPr lang="en-US" altLang="en-US" sz="2000" spc="-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Flask</a:t>
            </a:r>
          </a:p>
          <a:p>
            <a:r>
              <a:rPr lang="en-US" altLang="en-US" sz="2000" spc="-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MYSQL</a:t>
            </a:r>
          </a:p>
          <a:p>
            <a:r>
              <a:rPr lang="en-US" altLang="en-US" sz="2000" spc="-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Random Forest</a:t>
            </a:r>
          </a:p>
          <a:p>
            <a:r>
              <a:rPr lang="en-US" altLang="en-US" sz="2000" spc="-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Logistic regression</a:t>
            </a:r>
          </a:p>
          <a:p>
            <a:r>
              <a:rPr lang="en-US" altLang="en-US" sz="2000" spc="-1" dirty="0" err="1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LightGBM</a:t>
            </a:r>
            <a:endParaRPr lang="en-US" sz="2000" b="1" spc="-1" dirty="0">
              <a:latin typeface="Cambria" pitchFamily="18" charset="0"/>
              <a:ea typeface="Cambria" pitchFamily="18" charset="0"/>
            </a:endParaRPr>
          </a:p>
          <a:p>
            <a:r>
              <a:rPr lang="en-US" sz="2400" b="1" spc="-1" dirty="0">
                <a:latin typeface="Cambria" pitchFamily="18" charset="0"/>
                <a:ea typeface="Cambria" pitchFamily="18" charset="0"/>
              </a:rPr>
              <a:t>Challenges Faced</a:t>
            </a:r>
          </a:p>
          <a:p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Data Quality Issues – Missing or incorrect data</a:t>
            </a:r>
          </a:p>
          <a:p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Imbalanced Dataset – Fewer default cases than non-default</a:t>
            </a:r>
          </a:p>
          <a:p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Model Accuracy – Difficulty achieving high accuracy</a:t>
            </a:r>
          </a:p>
          <a:p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Feature Selection – Choosing important factors</a:t>
            </a:r>
          </a:p>
          <a:p>
            <a:r>
              <a:rPr lang="en-US" sz="20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Overfitting – Model works well on training but not on new data</a:t>
            </a:r>
          </a:p>
          <a:p>
            <a:pPr marL="0" indent="0">
              <a:buNone/>
            </a:pPr>
            <a:endParaRPr lang="en-US" sz="2000" u="sng" strike="noStrike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trike="noStrike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endParaRPr lang="en-US" b="1" u="sng" spc="-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13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76962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999365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6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PROJECT CARRIED OUT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14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77724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59F23-EE78-4337-14CE-ABCDA1621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16" y="1143001"/>
            <a:ext cx="7287768" cy="4199704"/>
          </a:xfrm>
          <a:prstGeom prst="rect">
            <a:avLst/>
          </a:prstGeo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0C0C5DB1-0EA7-3FB9-C003-D3745E18D505}"/>
              </a:ext>
            </a:extLst>
          </p:cNvPr>
          <p:cNvSpPr txBox="1">
            <a:spLocks/>
          </p:cNvSpPr>
          <p:nvPr/>
        </p:nvSpPr>
        <p:spPr>
          <a:xfrm>
            <a:off x="928116" y="5366779"/>
            <a:ext cx="7239000" cy="3722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8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Figure 1.2 : Home Page </a:t>
            </a:r>
          </a:p>
        </p:txBody>
      </p:sp>
    </p:spTree>
    <p:extLst>
      <p:ext uri="{BB962C8B-B14F-4D97-AF65-F5344CB8AC3E}">
        <p14:creationId xmlns:p14="http://schemas.microsoft.com/office/powerpoint/2010/main" val="1137521397"/>
      </p:ext>
    </p:extLst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8F501-6B62-3A6E-1F00-D0F40A8B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>
            <a:extLst>
              <a:ext uri="{FF2B5EF4-FFF2-40B4-BE49-F238E27FC236}">
                <a16:creationId xmlns:a16="http://schemas.microsoft.com/office/drawing/2014/main" id="{13BA73FB-335E-3881-7869-4F00E8FA7D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6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PROJECT CARRIED OUT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6BDCA34-BF77-09A6-C6B0-A76E3240C17D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15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48618-404D-9FDF-E839-ED6E640AE1BD}"/>
              </a:ext>
            </a:extLst>
          </p:cNvPr>
          <p:cNvSpPr txBox="1"/>
          <p:nvPr/>
        </p:nvSpPr>
        <p:spPr>
          <a:xfrm>
            <a:off x="152400" y="6331226"/>
            <a:ext cx="7620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78DD2DCC-8C50-9855-5A96-719D31522ECA}"/>
              </a:ext>
            </a:extLst>
          </p:cNvPr>
          <p:cNvSpPr txBox="1">
            <a:spLocks/>
          </p:cNvSpPr>
          <p:nvPr/>
        </p:nvSpPr>
        <p:spPr>
          <a:xfrm>
            <a:off x="364620" y="5700094"/>
            <a:ext cx="871956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8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Figure 1.3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 Input Form</a:t>
            </a:r>
            <a:endParaRPr lang="en-US" sz="18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8C42BA-D503-6A9E-8A18-1134EE12E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00981"/>
            <a:ext cx="83058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91550"/>
      </p:ext>
    </p:extLst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40750-0C48-634E-0304-1D7FFC29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>
            <a:extLst>
              <a:ext uri="{FF2B5EF4-FFF2-40B4-BE49-F238E27FC236}">
                <a16:creationId xmlns:a16="http://schemas.microsoft.com/office/drawing/2014/main" id="{234E994D-49BE-A347-1C6D-8480D51698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6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PROJECT CARRIED OUT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4B5053D-D4F7-32DE-CBFB-94A7163D980E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16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AD3E4-1A91-4BAD-A6AB-AA8495416EF5}"/>
              </a:ext>
            </a:extLst>
          </p:cNvPr>
          <p:cNvSpPr txBox="1"/>
          <p:nvPr/>
        </p:nvSpPr>
        <p:spPr>
          <a:xfrm>
            <a:off x="152400" y="6331226"/>
            <a:ext cx="7543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0F227968-0B8C-960F-D097-E4A90F511A43}"/>
              </a:ext>
            </a:extLst>
          </p:cNvPr>
          <p:cNvSpPr txBox="1">
            <a:spLocks/>
          </p:cNvSpPr>
          <p:nvPr/>
        </p:nvSpPr>
        <p:spPr>
          <a:xfrm>
            <a:off x="238680" y="5520978"/>
            <a:ext cx="871956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8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Figure 1.4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 Result Page</a:t>
            </a:r>
            <a:endParaRPr lang="en-US" sz="18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B82B64-DC6D-2DD3-6EF1-5E8D16F3C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60" y="1064197"/>
            <a:ext cx="8001000" cy="429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17195"/>
      </p:ext>
    </p:extLst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549C-5EDB-CDBF-AC3D-8B5E741ED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>
            <a:extLst>
              <a:ext uri="{FF2B5EF4-FFF2-40B4-BE49-F238E27FC236}">
                <a16:creationId xmlns:a16="http://schemas.microsoft.com/office/drawing/2014/main" id="{76896742-12F0-8E88-F32C-223D08EFD7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6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PROJECT CARRIED OUT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62EBB33-76C2-5BA1-D639-91601FF0E714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17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6113E-E1E6-F70B-8C9E-7E1E61934E41}"/>
              </a:ext>
            </a:extLst>
          </p:cNvPr>
          <p:cNvSpPr txBox="1"/>
          <p:nvPr/>
        </p:nvSpPr>
        <p:spPr>
          <a:xfrm>
            <a:off x="152400" y="6331226"/>
            <a:ext cx="792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5A6E62F2-2F89-7A1B-C671-3AEB800EC321}"/>
              </a:ext>
            </a:extLst>
          </p:cNvPr>
          <p:cNvSpPr txBox="1">
            <a:spLocks/>
          </p:cNvSpPr>
          <p:nvPr/>
        </p:nvSpPr>
        <p:spPr>
          <a:xfrm>
            <a:off x="238680" y="5881659"/>
            <a:ext cx="871956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8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Figure 1.5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Risk Prediction Analytics Dashboard</a:t>
            </a:r>
            <a:endParaRPr lang="en-US" sz="18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82FD4-C04D-AD43-2B82-CBCDBC41E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40" y="1226678"/>
            <a:ext cx="8262360" cy="440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17072"/>
      </p:ext>
    </p:extLst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EAC6B-2740-83F3-B63F-C0E08690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>
            <a:extLst>
              <a:ext uri="{FF2B5EF4-FFF2-40B4-BE49-F238E27FC236}">
                <a16:creationId xmlns:a16="http://schemas.microsoft.com/office/drawing/2014/main" id="{A67E2720-AD9B-9B07-BCDD-3A10CA24EA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6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PROJECT CARRIED OUT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737136A-7D65-C7F1-06BF-FDDFC6A9EC39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71BE9B-40DC-4942-8EB1-4AFDB853F74C}" type="slidenum">
              <a:rPr/>
              <a:t>18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E4775-F8E8-9F02-34F9-FC3BE191D9F0}"/>
              </a:ext>
            </a:extLst>
          </p:cNvPr>
          <p:cNvSpPr txBox="1"/>
          <p:nvPr/>
        </p:nvSpPr>
        <p:spPr>
          <a:xfrm>
            <a:off x="152400" y="6331226"/>
            <a:ext cx="792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69C6C4E4-0FD0-9226-065D-9C817CE53819}"/>
              </a:ext>
            </a:extLst>
          </p:cNvPr>
          <p:cNvSpPr txBox="1">
            <a:spLocks/>
          </p:cNvSpPr>
          <p:nvPr/>
        </p:nvSpPr>
        <p:spPr>
          <a:xfrm>
            <a:off x="216909" y="5624234"/>
            <a:ext cx="871956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800" spc="-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Figure 1.5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Risk Prediction History Page</a:t>
            </a:r>
            <a:endParaRPr lang="en-US" sz="1800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5BF048-8418-49D3-8B40-E84429114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59757"/>
            <a:ext cx="8229600" cy="373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04504"/>
      </p:ext>
    </p:extLst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 idx="4294967295"/>
          </p:nvPr>
        </p:nvSpPr>
        <p:spPr>
          <a:xfrm>
            <a:off x="238680" y="185400"/>
            <a:ext cx="8719560" cy="6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CONCLUSION</a:t>
            </a:r>
          </a:p>
        </p:txBody>
      </p:sp>
      <p:sp>
        <p:nvSpPr>
          <p:cNvPr id="105" name="PlaceHolder 2"/>
          <p:cNvSpPr>
            <a:spLocks noGrp="1"/>
          </p:cNvSpPr>
          <p:nvPr>
            <p:ph idx="4294967295"/>
          </p:nvPr>
        </p:nvSpPr>
        <p:spPr>
          <a:xfrm>
            <a:off x="228600" y="914400"/>
            <a:ext cx="8719560" cy="53340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Loan Default Prediction System helps identify whether a customer is likely to default using machine learning algorithms.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improves decision-making, reduces financial risk, and saves time for banks. With proper data and high model accuracy, the system can provide reliable and fast predictions.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machine learning to quickly and accurately assess borrower risk, enabling banks to make better lending decisions and reduce financial losses.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C9D66C4-0275-4B29-AF9B-27636602FD84}" type="slidenum">
              <a:rPr/>
              <a:t>19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" y="6331226"/>
            <a:ext cx="8001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/>
          <p:nvPr/>
        </p:nvSpPr>
        <p:spPr>
          <a:xfrm>
            <a:off x="269280" y="381000"/>
            <a:ext cx="8646120" cy="5596200"/>
          </a:xfrm>
          <a:prstGeom prst="rect">
            <a:avLst/>
          </a:prstGeom>
          <a:noFill/>
          <a:ln w="0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5400" b="1" strike="noStrike" spc="35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THANK YOU</a:t>
            </a:r>
            <a:endParaRPr lang="en-IN" sz="5400" b="1" strike="noStrike" spc="-1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4D8D405-740E-476F-BC2B-5B1B9D77824D}" type="slidenum">
              <a:rPr/>
              <a:t>20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2400" y="6331226"/>
            <a:ext cx="77724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Department of MCA, VCET </a:t>
            </a:r>
            <a:r>
              <a:rPr lang="en-US" b="1" dirty="0" err="1">
                <a:latin typeface="Cambria" pitchFamily="18" charset="0"/>
                <a:ea typeface="Cambria" pitchFamily="18" charset="0"/>
              </a:rPr>
              <a:t>Puttur</a:t>
            </a:r>
            <a:endParaRPr lang="en-IN" b="1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DEC40C2EE3CD4B80ACD2D40AA80E2E" ma:contentTypeVersion="10" ma:contentTypeDescription="Create a new document." ma:contentTypeScope="" ma:versionID="7206a2318156d928fe3d9a5b9a6380e0">
  <xsd:schema xmlns:xsd="http://www.w3.org/2001/XMLSchema" xmlns:xs="http://www.w3.org/2001/XMLSchema" xmlns:p="http://schemas.microsoft.com/office/2006/metadata/properties" xmlns:ns2="b818aabb-e8a6-4eb0-a812-9584956a0e14" xmlns:ns3="25993aa0-c934-4743-8a33-2ee3f2227785" targetNamespace="http://schemas.microsoft.com/office/2006/metadata/properties" ma:root="true" ma:fieldsID="06d71c4054c8fad7b4fe05763c211649" ns2:_="" ns3:_="">
    <xsd:import namespace="b818aabb-e8a6-4eb0-a812-9584956a0e14"/>
    <xsd:import namespace="25993aa0-c934-4743-8a33-2ee3f2227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18aabb-e8a6-4eb0-a812-9584956a0e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490759c-484a-421d-982a-c34b4ba304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993aa0-c934-4743-8a33-2ee3f222778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a494a8-24ac-4685-9040-e34de4d635db}" ma:internalName="TaxCatchAll" ma:showField="CatchAllData" ma:web="25993aa0-c934-4743-8a33-2ee3f2227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818aabb-e8a6-4eb0-a812-9584956a0e14">
      <Terms xmlns="http://schemas.microsoft.com/office/infopath/2007/PartnerControls"/>
    </lcf76f155ced4ddcb4097134ff3c332f>
    <TaxCatchAll xmlns="25993aa0-c934-4743-8a33-2ee3f222778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19633C-E21B-48FD-93AE-A8DE322A55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18aabb-e8a6-4eb0-a812-9584956a0e14"/>
    <ds:schemaRef ds:uri="25993aa0-c934-4743-8a33-2ee3f22277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73678D-FCA0-4C52-9EEF-030C350B9F7F}">
  <ds:schemaRefs>
    <ds:schemaRef ds:uri="http://schemas.microsoft.com/office/2006/metadata/properties"/>
    <ds:schemaRef ds:uri="http://schemas.microsoft.com/office/infopath/2007/PartnerControls"/>
    <ds:schemaRef ds:uri="b818aabb-e8a6-4eb0-a812-9584956a0e14"/>
    <ds:schemaRef ds:uri="25993aa0-c934-4743-8a33-2ee3f2227785"/>
  </ds:schemaRefs>
</ds:datastoreItem>
</file>

<file path=customXml/itemProps3.xml><?xml version="1.0" encoding="utf-8"?>
<ds:datastoreItem xmlns:ds="http://schemas.openxmlformats.org/officeDocument/2006/customXml" ds:itemID="{E50687D3-C9E0-4137-B83A-578A803141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952</Words>
  <Application>Microsoft Office PowerPoint</Application>
  <PresentationFormat>On-screen Show (4:3)</PresentationFormat>
  <Paragraphs>177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</vt:lpstr>
      <vt:lpstr>Symbol</vt:lpstr>
      <vt:lpstr>Times New Roman</vt:lpstr>
      <vt:lpstr>Wingdings</vt:lpstr>
      <vt:lpstr>Office Theme</vt:lpstr>
      <vt:lpstr>Office Theme</vt:lpstr>
      <vt:lpstr>Presenter Name : Ruchitha K M USN : 4VP24MC041</vt:lpstr>
      <vt:lpstr>INTRODUCTION</vt:lpstr>
      <vt:lpstr>CONTENTS</vt:lpstr>
      <vt:lpstr>COMPANY PROFILE</vt:lpstr>
      <vt:lpstr> INTRODUCTION</vt:lpstr>
      <vt:lpstr>OBJECTIVES</vt:lpstr>
      <vt:lpstr>SOFTWARE REQUIREMENTS SPECIFICATIONS</vt:lpstr>
      <vt:lpstr>PowerPoint Presentation</vt:lpstr>
      <vt:lpstr>PowerPoint Presentation</vt:lpstr>
      <vt:lpstr>SYSTEM REQUIREMENTS</vt:lpstr>
      <vt:lpstr>FLOW DIAGRAM</vt:lpstr>
      <vt:lpstr>PROJECT CARRIED OUT</vt:lpstr>
      <vt:lpstr>PROJECT CARRIED OUT</vt:lpstr>
      <vt:lpstr>PROJECT CARRIED OUT</vt:lpstr>
      <vt:lpstr>PROJECT CARRIED OUT</vt:lpstr>
      <vt:lpstr>PROJECT CARRIED OUT</vt:lpstr>
      <vt:lpstr>PROJECT CARRIED OUT</vt:lpstr>
      <vt:lpstr>PROJECT CARRIED OUT</vt:lpstr>
      <vt:lpstr>CONCLUSION</vt:lpstr>
      <vt:lpstr>PowerPoint Presentation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Personal</dc:creator>
  <dc:description/>
  <cp:lastModifiedBy>Ruchitha KM</cp:lastModifiedBy>
  <cp:revision>64</cp:revision>
  <dcterms:created xsi:type="dcterms:W3CDTF">2023-04-30T20:06:37Z</dcterms:created>
  <dcterms:modified xsi:type="dcterms:W3CDTF">2026-05-13T05:47:40Z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(4:3)</vt:lpwstr>
  </property>
  <property fmtid="{D5CDD505-2E9C-101B-9397-08002B2CF9AE}" pid="4" name="Slides">
    <vt:r8>19</vt:r8>
  </property>
  <property fmtid="{D5CDD505-2E9C-101B-9397-08002B2CF9AE}" pid="5" name="ContentTypeId">
    <vt:lpwstr>0x01010063DEC40C2EE3CD4B80ACD2D40AA80E2E</vt:lpwstr>
  </property>
</Properties>
</file>